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61" r:id="rId4"/>
    <p:sldId id="256" r:id="rId5"/>
    <p:sldId id="257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06"/>
    <p:restoredTop sz="94762"/>
  </p:normalViewPr>
  <p:slideViewPr>
    <p:cSldViewPr snapToGrid="0" snapToObjects="1">
      <p:cViewPr varScale="1">
        <p:scale>
          <a:sx n="117" d="100"/>
          <a:sy n="117" d="100"/>
        </p:scale>
        <p:origin x="5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5/20/21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2D5C88-58DE-3C4F-951B-534CD55BC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Cutlery: Comprehensive Analysis Pipeline for CUT&amp;RUN Data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9DAA23B-D8D5-0548-BB93-CFE0892C9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2020/07/31</a:t>
            </a:r>
          </a:p>
          <a:p>
            <a:endParaRPr lang="en-US"/>
          </a:p>
          <a:p>
            <a:r>
              <a:rPr lang="en-US"/>
              <a:t>Hee-Woong Lim</a:t>
            </a:r>
            <a:endParaRPr lang="en-US" dirty="0"/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78FB66EF-3786-9A49-8201-079E7EED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53600" y="5713025"/>
            <a:ext cx="914400" cy="914400"/>
          </a:xfrm>
          <a:prstGeom prst="rect">
            <a:avLst/>
          </a:prstGeom>
        </p:spPr>
      </p:pic>
      <p:pic>
        <p:nvPicPr>
          <p:cNvPr id="3" name="Graphic 2" descr="Fork and knife">
            <a:extLst>
              <a:ext uri="{FF2B5EF4-FFF2-40B4-BE49-F238E27FC236}">
                <a16:creationId xmlns:a16="http://schemas.microsoft.com/office/drawing/2014/main" id="{D771DED1-3735-7D41-AB2F-2E4B3E0A0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858963"/>
            <a:ext cx="914400" cy="914400"/>
          </a:xfrm>
          <a:prstGeom prst="rect">
            <a:avLst/>
          </a:prstGeom>
        </p:spPr>
      </p:pic>
      <p:pic>
        <p:nvPicPr>
          <p:cNvPr id="8" name="Graphic 7" descr="Fork and knife">
            <a:extLst>
              <a:ext uri="{FF2B5EF4-FFF2-40B4-BE49-F238E27FC236}">
                <a16:creationId xmlns:a16="http://schemas.microsoft.com/office/drawing/2014/main" id="{32E41A72-1887-A140-B22D-B97139FA83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53353" y="5713025"/>
            <a:ext cx="914400" cy="914400"/>
          </a:xfrm>
          <a:prstGeom prst="rect">
            <a:avLst/>
          </a:prstGeom>
        </p:spPr>
      </p:pic>
      <p:pic>
        <p:nvPicPr>
          <p:cNvPr id="10" name="Graphic 9" descr="Chopsticks">
            <a:extLst>
              <a:ext uri="{FF2B5EF4-FFF2-40B4-BE49-F238E27FC236}">
                <a16:creationId xmlns:a16="http://schemas.microsoft.com/office/drawing/2014/main" id="{E82D0726-A767-4041-92CD-E2A69F9078D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27498" y="5745674"/>
            <a:ext cx="914400" cy="914400"/>
          </a:xfrm>
          <a:prstGeom prst="rect">
            <a:avLst/>
          </a:prstGeom>
        </p:spPr>
      </p:pic>
      <p:pic>
        <p:nvPicPr>
          <p:cNvPr id="12" name="Graphic 11" descr="Fork">
            <a:extLst>
              <a:ext uri="{FF2B5EF4-FFF2-40B4-BE49-F238E27FC236}">
                <a16:creationId xmlns:a16="http://schemas.microsoft.com/office/drawing/2014/main" id="{6CDCEE20-3F7B-3E49-868A-6C664A178A9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80101" y="5684912"/>
            <a:ext cx="914400" cy="914400"/>
          </a:xfrm>
          <a:prstGeom prst="rect">
            <a:avLst/>
          </a:prstGeom>
        </p:spPr>
      </p:pic>
      <p:pic>
        <p:nvPicPr>
          <p:cNvPr id="14" name="Graphic 13" descr="Spoon">
            <a:extLst>
              <a:ext uri="{FF2B5EF4-FFF2-40B4-BE49-F238E27FC236}">
                <a16:creationId xmlns:a16="http://schemas.microsoft.com/office/drawing/2014/main" id="{13D5A5D9-15AE-F34E-82F8-700FD046FE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51986" y="5778323"/>
            <a:ext cx="914400" cy="914400"/>
          </a:xfrm>
          <a:prstGeom prst="rect">
            <a:avLst/>
          </a:prstGeom>
        </p:spPr>
      </p:pic>
      <p:pic>
        <p:nvPicPr>
          <p:cNvPr id="16" name="Graphic 15" descr="Fork">
            <a:extLst>
              <a:ext uri="{FF2B5EF4-FFF2-40B4-BE49-F238E27FC236}">
                <a16:creationId xmlns:a16="http://schemas.microsoft.com/office/drawing/2014/main" id="{B62FD9E7-3393-AC48-B9E9-4FCADC79029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91922" y="5735637"/>
            <a:ext cx="914400" cy="914400"/>
          </a:xfrm>
          <a:prstGeom prst="rect">
            <a:avLst/>
          </a:prstGeom>
        </p:spPr>
      </p:pic>
      <p:pic>
        <p:nvPicPr>
          <p:cNvPr id="18" name="Graphic 17" descr="Chopsticks">
            <a:extLst>
              <a:ext uri="{FF2B5EF4-FFF2-40B4-BE49-F238E27FC236}">
                <a16:creationId xmlns:a16="http://schemas.microsoft.com/office/drawing/2014/main" id="{618E6A52-F3F7-E447-92B8-9B833E0AB7F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777374" y="5790079"/>
            <a:ext cx="914400" cy="914400"/>
          </a:xfrm>
          <a:prstGeom prst="rect">
            <a:avLst/>
          </a:prstGeom>
        </p:spPr>
      </p:pic>
      <p:pic>
        <p:nvPicPr>
          <p:cNvPr id="20" name="Graphic 19" descr="Knife">
            <a:extLst>
              <a:ext uri="{FF2B5EF4-FFF2-40B4-BE49-F238E27FC236}">
                <a16:creationId xmlns:a16="http://schemas.microsoft.com/office/drawing/2014/main" id="{4CA693EB-DC6E-2E4C-87D5-D33CCC821EB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54543" y="5778323"/>
            <a:ext cx="914400" cy="914400"/>
          </a:xfrm>
          <a:prstGeom prst="rect">
            <a:avLst/>
          </a:prstGeom>
        </p:spPr>
      </p:pic>
      <p:pic>
        <p:nvPicPr>
          <p:cNvPr id="22" name="Graphic 21" descr="Knife">
            <a:extLst>
              <a:ext uri="{FF2B5EF4-FFF2-40B4-BE49-F238E27FC236}">
                <a16:creationId xmlns:a16="http://schemas.microsoft.com/office/drawing/2014/main" id="{58189A06-DC93-5449-A996-F04358AF98E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004419" y="5807075"/>
            <a:ext cx="914400" cy="914400"/>
          </a:xfrm>
          <a:prstGeom prst="rect">
            <a:avLst/>
          </a:prstGeom>
        </p:spPr>
      </p:pic>
      <p:pic>
        <p:nvPicPr>
          <p:cNvPr id="24" name="Graphic 23" descr="Spoon">
            <a:extLst>
              <a:ext uri="{FF2B5EF4-FFF2-40B4-BE49-F238E27FC236}">
                <a16:creationId xmlns:a16="http://schemas.microsoft.com/office/drawing/2014/main" id="{FA0E89AA-13D8-A847-B73D-BC31A5FDA3C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194786" y="5745674"/>
            <a:ext cx="914400" cy="914400"/>
          </a:xfrm>
          <a:prstGeom prst="rect">
            <a:avLst/>
          </a:prstGeom>
        </p:spPr>
      </p:pic>
      <p:pic>
        <p:nvPicPr>
          <p:cNvPr id="15" name="Graphic 14" descr="Chopsticks">
            <a:extLst>
              <a:ext uri="{FF2B5EF4-FFF2-40B4-BE49-F238E27FC236}">
                <a16:creationId xmlns:a16="http://schemas.microsoft.com/office/drawing/2014/main" id="{9358EB5E-D3E1-9248-B0AE-E172551E455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77431" y="1858963"/>
            <a:ext cx="914400" cy="914400"/>
          </a:xfrm>
          <a:prstGeom prst="rect">
            <a:avLst/>
          </a:prstGeom>
        </p:spPr>
      </p:pic>
      <p:pic>
        <p:nvPicPr>
          <p:cNvPr id="17" name="Graphic 16" descr="Spoon">
            <a:extLst>
              <a:ext uri="{FF2B5EF4-FFF2-40B4-BE49-F238E27FC236}">
                <a16:creationId xmlns:a16="http://schemas.microsoft.com/office/drawing/2014/main" id="{C74E96D8-255A-4B44-9571-349B5CEB03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6200000">
            <a:off x="10635342" y="18589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D206-B2E3-7346-B0CD-C7F1F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4ADB5-EB56-9F40-9153-4333E5F77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Development of comprehensive analytic pipeline</a:t>
            </a:r>
          </a:p>
          <a:p>
            <a:r>
              <a:rPr lang="en-US" dirty="0"/>
              <a:t>Level 1: analogous to ChIP-seq data analysis</a:t>
            </a:r>
          </a:p>
          <a:p>
            <a:pPr lvl="1"/>
            <a:r>
              <a:rPr lang="en-US" dirty="0"/>
              <a:t>Peak calling</a:t>
            </a:r>
          </a:p>
          <a:p>
            <a:pPr lvl="1"/>
            <a:r>
              <a:rPr lang="en-US" dirty="0"/>
              <a:t>Motif search &amp; TF prediction</a:t>
            </a:r>
          </a:p>
          <a:p>
            <a:pPr lvl="1"/>
            <a:r>
              <a:rPr lang="en-US" dirty="0"/>
              <a:t>Visualization</a:t>
            </a:r>
          </a:p>
          <a:p>
            <a:r>
              <a:rPr lang="en-US" dirty="0"/>
              <a:t>Level 2: high-resolution chromatin landscape, i.e. footprint</a:t>
            </a:r>
          </a:p>
          <a:p>
            <a:pPr lvl="1"/>
            <a:r>
              <a:rPr lang="en-US" dirty="0"/>
              <a:t>Primary TF binding</a:t>
            </a:r>
          </a:p>
          <a:p>
            <a:pPr lvl="1"/>
            <a:r>
              <a:rPr lang="en-US" dirty="0"/>
              <a:t>Secondary TF binding</a:t>
            </a:r>
          </a:p>
          <a:p>
            <a:pPr lvl="1"/>
            <a:r>
              <a:rPr lang="en-US" dirty="0"/>
              <a:t>Co-binding</a:t>
            </a:r>
          </a:p>
          <a:p>
            <a:pPr lvl="1"/>
            <a:r>
              <a:rPr lang="en-US" dirty="0"/>
              <a:t>Bias correction</a:t>
            </a:r>
          </a:p>
          <a:p>
            <a:endParaRPr lang="en-US" dirty="0"/>
          </a:p>
          <a:p>
            <a:r>
              <a:rPr lang="en-US" dirty="0"/>
              <a:t>What about histone CUT&amp;RUN?</a:t>
            </a:r>
          </a:p>
          <a:p>
            <a:endParaRPr lang="en-US" dirty="0"/>
          </a:p>
          <a:p>
            <a:r>
              <a:rPr lang="en-US" dirty="0"/>
              <a:t>+ Packaging &amp; publication</a:t>
            </a:r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675562BA-B24F-CF42-BDC9-65DB79010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973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64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EA10-9E18-5B48-A140-B6D4FD1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Ahead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3A55FF-7DF1-5D41-B7B6-081287DE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96887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Peak centering</a:t>
            </a:r>
          </a:p>
          <a:p>
            <a:pPr lvl="1"/>
            <a:r>
              <a:rPr lang="en-US" dirty="0"/>
              <a:t>Currently, peak is centered at the signal summit</a:t>
            </a:r>
          </a:p>
          <a:p>
            <a:pPr lvl="1"/>
            <a:r>
              <a:rPr lang="en-US" dirty="0"/>
              <a:t>Slight offset from the primary motif is observed unlike ChIP-seq peak</a:t>
            </a:r>
          </a:p>
          <a:p>
            <a:pPr lvl="1"/>
            <a:r>
              <a:rPr lang="en-US" dirty="0" err="1"/>
              <a:t>EChO</a:t>
            </a:r>
            <a:r>
              <a:rPr lang="en-US" dirty="0"/>
              <a:t> method?</a:t>
            </a:r>
          </a:p>
          <a:p>
            <a:r>
              <a:rPr lang="en-US" dirty="0"/>
              <a:t>Statistical model for robust footprint analysis</a:t>
            </a:r>
          </a:p>
          <a:p>
            <a:pPr lvl="1"/>
            <a:r>
              <a:rPr lang="en-US" dirty="0"/>
              <a:t>Joint model incorporating motif &amp; footprint</a:t>
            </a:r>
          </a:p>
          <a:p>
            <a:pPr lvl="1"/>
            <a:r>
              <a:rPr lang="en-US" dirty="0"/>
              <a:t>Benchmarking of analogous methods such as DNase footprint data</a:t>
            </a:r>
          </a:p>
          <a:p>
            <a:r>
              <a:rPr lang="en-US" dirty="0"/>
              <a:t>Performance evaluation platform</a:t>
            </a:r>
          </a:p>
          <a:p>
            <a:pPr lvl="1"/>
            <a:r>
              <a:rPr lang="en-US" dirty="0"/>
              <a:t>A few methods developed for CUT&amp;RUN footprint (e.g. </a:t>
            </a:r>
            <a:r>
              <a:rPr lang="en-US" dirty="0" err="1"/>
              <a:t>CUT&amp;RUNtools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Comprehensive benchmarking is yet to be done</a:t>
            </a:r>
          </a:p>
          <a:p>
            <a:pPr lvl="1"/>
            <a:r>
              <a:rPr lang="en-US" dirty="0"/>
              <a:t>How to evaluate the footprint performance</a:t>
            </a:r>
          </a:p>
          <a:p>
            <a:r>
              <a:rPr lang="en-US" dirty="0"/>
              <a:t>Packaging and publication</a:t>
            </a:r>
          </a:p>
          <a:p>
            <a:pPr lvl="1"/>
            <a:r>
              <a:rPr lang="en-US" dirty="0"/>
              <a:t>How to share our tool effectively with others?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? Docker? Or porting to different unified programming language?</a:t>
            </a:r>
          </a:p>
          <a:p>
            <a:pPr lvl="1"/>
            <a:endParaRPr lang="en-US" dirty="0"/>
          </a:p>
          <a:p>
            <a:r>
              <a:rPr lang="en-US" dirty="0"/>
              <a:t>Any further information we can learn from CUT&amp;RUN?</a:t>
            </a:r>
          </a:p>
          <a:p>
            <a:pPr lvl="1"/>
            <a:r>
              <a:rPr lang="en-US" dirty="0"/>
              <a:t>Other than histone modification from histone CUT&amp;RUN?</a:t>
            </a:r>
          </a:p>
        </p:txBody>
      </p:sp>
    </p:spTree>
    <p:extLst>
      <p:ext uri="{BB962C8B-B14F-4D97-AF65-F5344CB8AC3E}">
        <p14:creationId xmlns:p14="http://schemas.microsoft.com/office/powerpoint/2010/main" val="327254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183035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4900535" y="2429818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Nucleotide base frequency at frag. ends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2" idx="2"/>
            <a:endCxn id="33" idx="1"/>
          </p:cNvCxnSpPr>
          <p:nvPr/>
        </p:nvCxnSpPr>
        <p:spPr>
          <a:xfrm rot="16200000" flipH="1">
            <a:off x="4573078" y="2284991"/>
            <a:ext cx="416832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 rot="5400000" flipH="1" flipV="1">
            <a:off x="1754840" y="2444594"/>
            <a:ext cx="2354557" cy="1491343"/>
          </a:xfrm>
          <a:prstGeom prst="bentConnector4">
            <a:avLst>
              <a:gd name="adj1" fmla="val -9709"/>
              <a:gd name="adj2" fmla="val 786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056934" y="2801136"/>
            <a:ext cx="1449125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3814119" y="3043951"/>
            <a:ext cx="1934754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566488" y="3291581"/>
            <a:ext cx="2430015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063129" y="3794941"/>
            <a:ext cx="3436733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314807" y="3543262"/>
            <a:ext cx="2933374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308518" y="2549552"/>
            <a:ext cx="94595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48B5C7-302B-3742-9A15-635644F1863A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4EDA9-190B-1F49-8EC2-6C1FDBCF8917}"/>
              </a:ext>
            </a:extLst>
          </p:cNvPr>
          <p:cNvSpPr txBox="1"/>
          <p:nvPr/>
        </p:nvSpPr>
        <p:spPr>
          <a:xfrm>
            <a:off x="5647116" y="1867007"/>
            <a:ext cx="1357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(including spike-in)</a:t>
            </a:r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5B820E99-7EB8-CD40-B892-6084204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8834" y="82550"/>
            <a:ext cx="5041900" cy="66929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2982567-BB46-724E-885A-E2C0D7FAC603}"/>
              </a:ext>
            </a:extLst>
          </p:cNvPr>
          <p:cNvGrpSpPr/>
          <p:nvPr/>
        </p:nvGrpSpPr>
        <p:grpSpPr>
          <a:xfrm>
            <a:off x="2993444" y="1076316"/>
            <a:ext cx="1025259" cy="729336"/>
            <a:chOff x="7216902" y="281431"/>
            <a:chExt cx="751562" cy="72933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0C46DFC-5DB2-1F46-92BF-5163C83D43BC}"/>
                </a:ext>
              </a:extLst>
            </p:cNvPr>
            <p:cNvSpPr/>
            <p:nvPr/>
          </p:nvSpPr>
          <p:spPr>
            <a:xfrm>
              <a:off x="7216902" y="281431"/>
              <a:ext cx="751562" cy="194442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Folder</a:t>
              </a:r>
              <a:endParaRPr lang="en-US" sz="1400" dirty="0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C6854D0-121F-2846-841E-E6A79637D7CB}"/>
                </a:ext>
              </a:extLst>
            </p:cNvPr>
            <p:cNvSpPr/>
            <p:nvPr/>
          </p:nvSpPr>
          <p:spPr>
            <a:xfrm>
              <a:off x="7216902" y="548878"/>
              <a:ext cx="751562" cy="194442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File</a:t>
              </a:r>
              <a:endParaRPr lang="en-US" sz="1400" dirty="0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1974E57-87B5-1C43-A1AB-D4FD7B643CCF}"/>
                </a:ext>
              </a:extLst>
            </p:cNvPr>
            <p:cNvSpPr/>
            <p:nvPr/>
          </p:nvSpPr>
          <p:spPr>
            <a:xfrm>
              <a:off x="7216902" y="816325"/>
              <a:ext cx="751562" cy="194442"/>
            </a:xfrm>
            <a:prstGeom prst="round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Text field</a:t>
              </a:r>
              <a:endParaRPr lang="en-US" sz="14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A6BC71-6FA5-7447-A684-5B275D64F68B}"/>
              </a:ext>
            </a:extLst>
          </p:cNvPr>
          <p:cNvSpPr txBox="1"/>
          <p:nvPr/>
        </p:nvSpPr>
        <p:spPr>
          <a:xfrm>
            <a:off x="221569" y="193455"/>
            <a:ext cx="3147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Processed Sample Directory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7C377-7C6B-3C4A-8E00-293DB6954AC3}"/>
              </a:ext>
            </a:extLst>
          </p:cNvPr>
          <p:cNvSpPr txBox="1"/>
          <p:nvPr/>
        </p:nvSpPr>
        <p:spPr>
          <a:xfrm>
            <a:off x="8178025" y="445145"/>
            <a:ext cx="1416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3B0F9-BB95-1F4D-9AA7-C98A71E2AD81}"/>
              </a:ext>
            </a:extLst>
          </p:cNvPr>
          <p:cNvSpPr txBox="1"/>
          <p:nvPr/>
        </p:nvSpPr>
        <p:spPr>
          <a:xfrm>
            <a:off x="8173297" y="1240753"/>
            <a:ext cx="1112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Quality control</a:t>
            </a:r>
          </a:p>
          <a:p>
            <a:r>
              <a:rPr lang="en-US" sz="1200" dirty="0"/>
              <a:t>&amp; k-mer bias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A27E09-6F76-564E-BCD7-6FF7069ABD88}"/>
              </a:ext>
            </a:extLst>
          </p:cNvPr>
          <p:cNvSpPr txBox="1"/>
          <p:nvPr/>
        </p:nvSpPr>
        <p:spPr>
          <a:xfrm>
            <a:off x="8173297" y="2100382"/>
            <a:ext cx="1241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groups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EFE1F-2F6E-E741-A962-E3A1224E17B9}"/>
              </a:ext>
            </a:extLst>
          </p:cNvPr>
          <p:cNvSpPr txBox="1"/>
          <p:nvPr/>
        </p:nvSpPr>
        <p:spPr>
          <a:xfrm>
            <a:off x="8173297" y="2595208"/>
            <a:ext cx="14448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Homer tag directory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7838D-8D58-D043-9B8A-1EF1B124A206}"/>
              </a:ext>
            </a:extLst>
          </p:cNvPr>
          <p:cNvSpPr txBox="1"/>
          <p:nvPr/>
        </p:nvSpPr>
        <p:spPr>
          <a:xfrm>
            <a:off x="8173297" y="3231837"/>
            <a:ext cx="2419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NFR fragments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6CF88-CEB8-B840-9C06-CB1032318315}"/>
              </a:ext>
            </a:extLst>
          </p:cNvPr>
          <p:cNvSpPr txBox="1"/>
          <p:nvPr/>
        </p:nvSpPr>
        <p:spPr>
          <a:xfrm>
            <a:off x="8189923" y="3732224"/>
            <a:ext cx="14321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Histone peak calling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A4BF9D-5AF7-DE47-9ACE-DE5BE8EA74CA}"/>
              </a:ext>
            </a:extLst>
          </p:cNvPr>
          <p:cNvSpPr txBox="1"/>
          <p:nvPr/>
        </p:nvSpPr>
        <p:spPr>
          <a:xfrm>
            <a:off x="8189923" y="4430245"/>
            <a:ext cx="2310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all fragments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837FD-B554-E64E-ADAD-4781FAC168D7}"/>
              </a:ext>
            </a:extLst>
          </p:cNvPr>
          <p:cNvSpPr txBox="1"/>
          <p:nvPr/>
        </p:nvSpPr>
        <p:spPr>
          <a:xfrm>
            <a:off x="8173297" y="4794590"/>
            <a:ext cx="193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(resized) using</a:t>
            </a:r>
          </a:p>
          <a:p>
            <a:r>
              <a:rPr lang="en-US" sz="1200" dirty="0"/>
              <a:t>distinct groups of fragments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E4E861-AFD4-6448-8592-214DAA32AE5B}"/>
              </a:ext>
            </a:extLst>
          </p:cNvPr>
          <p:cNvSpPr txBox="1"/>
          <p:nvPr/>
        </p:nvSpPr>
        <p:spPr>
          <a:xfrm>
            <a:off x="8173297" y="5340248"/>
            <a:ext cx="1683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(5’-ends 1bp)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4847-0F70-D345-8C68-2E62E1AE8BCA}"/>
              </a:ext>
            </a:extLst>
          </p:cNvPr>
          <p:cNvSpPr txBox="1"/>
          <p:nvPr/>
        </p:nvSpPr>
        <p:spPr>
          <a:xfrm>
            <a:off x="8173297" y="5812713"/>
            <a:ext cx="25333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using all original fragments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62DB2-052A-314B-9366-E09A352D74B8}"/>
              </a:ext>
            </a:extLst>
          </p:cNvPr>
          <p:cNvSpPr txBox="1"/>
          <p:nvPr/>
        </p:nvSpPr>
        <p:spPr>
          <a:xfrm>
            <a:off x="8173297" y="6285179"/>
            <a:ext cx="20245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center x length file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ECC53-D832-7C40-BB15-7B84739A8BC2}"/>
              </a:ext>
            </a:extLst>
          </p:cNvPr>
          <p:cNvSpPr txBox="1"/>
          <p:nvPr/>
        </p:nvSpPr>
        <p:spPr>
          <a:xfrm>
            <a:off x="380302" y="5458518"/>
            <a:ext cx="3909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Still exploring phase for best analysis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Overlap &amp; redundancy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be more concise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A097BA-92B2-FD4F-A85C-474316924C0B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</p:spTree>
    <p:extLst>
      <p:ext uri="{BB962C8B-B14F-4D97-AF65-F5344CB8AC3E}">
        <p14:creationId xmlns:p14="http://schemas.microsoft.com/office/powerpoint/2010/main" val="176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53D689-9AD5-654A-84B8-9EEDB644E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8E3FA-6E27-CA47-A74E-A6B2FE72BA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previous version</a:t>
            </a:r>
          </a:p>
        </p:txBody>
      </p:sp>
    </p:spTree>
    <p:extLst>
      <p:ext uri="{BB962C8B-B14F-4D97-AF65-F5344CB8AC3E}">
        <p14:creationId xmlns:p14="http://schemas.microsoft.com/office/powerpoint/2010/main" val="1900252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1353690" y="4390876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2404865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3677791" y="186300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*Nucleotide base frequency</a:t>
            </a:r>
          </a:p>
          <a:p>
            <a:pPr algn="ctr"/>
            <a:r>
              <a:rPr lang="en-US" sz="1200" dirty="0"/>
              <a:t>at 5’-ends of reads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3117176" y="2045637"/>
            <a:ext cx="560615" cy="25602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6" idx="3"/>
            <a:endCxn id="12" idx="1"/>
          </p:cNvCxnSpPr>
          <p:nvPr/>
        </p:nvCxnSpPr>
        <p:spPr>
          <a:xfrm flipV="1">
            <a:off x="3117176" y="2587495"/>
            <a:ext cx="560615" cy="20183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344188" y="3088390"/>
            <a:ext cx="874617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4101373" y="3331205"/>
            <a:ext cx="136024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853742" y="3578835"/>
            <a:ext cx="1855507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350383" y="4082195"/>
            <a:ext cx="2862225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B6D663B-A05A-A647-88EA-BC162F5E9E27}"/>
              </a:ext>
            </a:extLst>
          </p:cNvPr>
          <p:cNvSpPr txBox="1"/>
          <p:nvPr/>
        </p:nvSpPr>
        <p:spPr>
          <a:xfrm>
            <a:off x="5770634" y="1898052"/>
            <a:ext cx="3879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*planned to move downstream below fragment generation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602061" y="3830516"/>
            <a:ext cx="2358866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595772" y="2836806"/>
            <a:ext cx="371448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CC6905-E7AF-DD4F-B1D6-D4916EC21670}"/>
              </a:ext>
            </a:extLst>
          </p:cNvPr>
          <p:cNvSpPr txBox="1"/>
          <p:nvPr/>
        </p:nvSpPr>
        <p:spPr>
          <a:xfrm>
            <a:off x="230241" y="537478"/>
            <a:ext cx="1792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20200806</a:t>
            </a:r>
          </a:p>
        </p:txBody>
      </p:sp>
    </p:spTree>
    <p:extLst>
      <p:ext uri="{BB962C8B-B14F-4D97-AF65-F5344CB8AC3E}">
        <p14:creationId xmlns:p14="http://schemas.microsoft.com/office/powerpoint/2010/main" val="1396112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9509E61-4CC2-3B40-B408-CD48E8CADBC3}"/>
              </a:ext>
            </a:extLst>
          </p:cNvPr>
          <p:cNvSpPr/>
          <p:nvPr/>
        </p:nvSpPr>
        <p:spPr>
          <a:xfrm>
            <a:off x="1761893" y="5854390"/>
            <a:ext cx="8664497" cy="5352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HPC/CCHMC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179E04-0DEF-F143-9CDB-CB42117D989E}"/>
              </a:ext>
            </a:extLst>
          </p:cNvPr>
          <p:cNvSpPr/>
          <p:nvPr/>
        </p:nvSpPr>
        <p:spPr>
          <a:xfrm>
            <a:off x="1761893" y="4694663"/>
            <a:ext cx="556445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Modules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A2D120-0719-8942-9A40-5E7C1CC17B31}"/>
              </a:ext>
            </a:extLst>
          </p:cNvPr>
          <p:cNvSpPr/>
          <p:nvPr/>
        </p:nvSpPr>
        <p:spPr>
          <a:xfrm>
            <a:off x="1898566" y="5096107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BDE027-4176-D048-9CEA-A58A5E119414}"/>
              </a:ext>
            </a:extLst>
          </p:cNvPr>
          <p:cNvSpPr/>
          <p:nvPr/>
        </p:nvSpPr>
        <p:spPr>
          <a:xfrm>
            <a:off x="3178094" y="5096106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135CBE-9555-E14B-BC5D-25B6163DB976}"/>
              </a:ext>
            </a:extLst>
          </p:cNvPr>
          <p:cNvSpPr/>
          <p:nvPr/>
        </p:nvSpPr>
        <p:spPr>
          <a:xfrm>
            <a:off x="3178094" y="5406483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Python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7D5406-2234-0C4D-BF2D-ABF1690997C9}"/>
              </a:ext>
            </a:extLst>
          </p:cNvPr>
          <p:cNvSpPr/>
          <p:nvPr/>
        </p:nvSpPr>
        <p:spPr>
          <a:xfrm>
            <a:off x="1898566" y="5406483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Samtools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69E8A4-93F1-0249-A59D-B0458541FABC}"/>
              </a:ext>
            </a:extLst>
          </p:cNvPr>
          <p:cNvSpPr/>
          <p:nvPr/>
        </p:nvSpPr>
        <p:spPr>
          <a:xfrm>
            <a:off x="4680794" y="5283819"/>
            <a:ext cx="1142855" cy="245327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3CB6A1-AED5-A143-8D0C-48AD9FBFE35B}"/>
              </a:ext>
            </a:extLst>
          </p:cNvPr>
          <p:cNvSpPr/>
          <p:nvPr/>
        </p:nvSpPr>
        <p:spPr>
          <a:xfrm>
            <a:off x="7463022" y="4694663"/>
            <a:ext cx="2963368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Unix basic commands</a:t>
            </a:r>
          </a:p>
          <a:p>
            <a:pPr algn="ctr"/>
            <a:r>
              <a:rPr lang="en-US" dirty="0"/>
              <a:t>gawk / sed /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6FA0BA-6633-3E41-8E56-79CF5C18E8DD}"/>
              </a:ext>
            </a:extLst>
          </p:cNvPr>
          <p:cNvSpPr/>
          <p:nvPr/>
        </p:nvSpPr>
        <p:spPr>
          <a:xfrm>
            <a:off x="1761893" y="3529360"/>
            <a:ext cx="866449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R / Python / Bash Scripts wrapping each function processing step</a:t>
            </a:r>
          </a:p>
          <a:p>
            <a:pPr algn="ctr"/>
            <a:r>
              <a:rPr lang="en-US" dirty="0"/>
              <a:t>that act as a stand-alone command taking inputs and option strings.</a:t>
            </a:r>
          </a:p>
          <a:p>
            <a:pPr algn="ctr"/>
            <a:r>
              <a:rPr lang="en-US" dirty="0"/>
              <a:t>e.g. </a:t>
            </a:r>
            <a:r>
              <a:rPr lang="en-US" dirty="0" err="1"/>
              <a:t>cnr.filterBam.sh</a:t>
            </a:r>
            <a:r>
              <a:rPr lang="en-US" dirty="0"/>
              <a:t>, </a:t>
            </a:r>
            <a:r>
              <a:rPr lang="en-US" dirty="0" err="1"/>
              <a:t>cnr.bamToFragment.py</a:t>
            </a:r>
            <a:r>
              <a:rPr lang="en-US" dirty="0"/>
              <a:t> …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CE100D-C186-A74B-9E5B-67B05B4B7CF3}"/>
              </a:ext>
            </a:extLst>
          </p:cNvPr>
          <p:cNvSpPr/>
          <p:nvPr/>
        </p:nvSpPr>
        <p:spPr>
          <a:xfrm>
            <a:off x="1761892" y="2364057"/>
            <a:ext cx="866449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Snakemake</a:t>
            </a:r>
            <a:r>
              <a:rPr lang="en-US" dirty="0"/>
              <a:t> file(s) containing</a:t>
            </a:r>
          </a:p>
          <a:p>
            <a:pPr marL="285750" indent="-285750" algn="ctr">
              <a:buFontTx/>
              <a:buChar char="-"/>
            </a:pPr>
            <a:r>
              <a:rPr lang="en-US" dirty="0"/>
              <a:t>Final output file list</a:t>
            </a:r>
          </a:p>
          <a:p>
            <a:pPr marL="285750" indent="-285750" algn="ctr">
              <a:buFontTx/>
              <a:buChar char="-"/>
            </a:pPr>
            <a:r>
              <a:rPr lang="en-US" dirty="0" err="1"/>
              <a:t>Snakemake</a:t>
            </a:r>
            <a:r>
              <a:rPr lang="en-US" dirty="0"/>
              <a:t> rules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2389CC-B6CC-F74A-B3AE-38B1E45AE33C}"/>
              </a:ext>
            </a:extLst>
          </p:cNvPr>
          <p:cNvSpPr/>
          <p:nvPr/>
        </p:nvSpPr>
        <p:spPr>
          <a:xfrm>
            <a:off x="1761891" y="1198754"/>
            <a:ext cx="8664497" cy="999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Input data information &amp; resource files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003FAC-EC54-C84D-9376-F3A5922E3911}"/>
              </a:ext>
            </a:extLst>
          </p:cNvPr>
          <p:cNvSpPr txBox="1"/>
          <p:nvPr/>
        </p:nvSpPr>
        <p:spPr>
          <a:xfrm>
            <a:off x="1761891" y="323384"/>
            <a:ext cx="2564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Environment variables</a:t>
            </a:r>
          </a:p>
          <a:p>
            <a:pPr marL="285750" indent="-285750">
              <a:buFontTx/>
              <a:buChar char="-"/>
            </a:pPr>
            <a:r>
              <a:rPr lang="en-US" dirty="0"/>
              <a:t>PATH to the scripts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BA4AFCB-8942-124E-84D7-CE978513679B}"/>
              </a:ext>
            </a:extLst>
          </p:cNvPr>
          <p:cNvSpPr/>
          <p:nvPr/>
        </p:nvSpPr>
        <p:spPr>
          <a:xfrm flipH="1">
            <a:off x="1275479" y="463041"/>
            <a:ext cx="328166" cy="4231622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021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526</Words>
  <Application>Microsoft Macintosh PowerPoint</Application>
  <PresentationFormat>Widescreen</PresentationFormat>
  <Paragraphs>127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Cutlery: Comprehensive Analysis Pipeline for CUT&amp;RUN Data</vt:lpstr>
      <vt:lpstr>Goal:</vt:lpstr>
      <vt:lpstr>Technical Challenges Ahead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77</cp:revision>
  <dcterms:created xsi:type="dcterms:W3CDTF">2020-06-12T17:02:32Z</dcterms:created>
  <dcterms:modified xsi:type="dcterms:W3CDTF">2021-05-20T19:59:53Z</dcterms:modified>
</cp:coreProperties>
</file>
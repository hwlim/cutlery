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8" r:id="rId3"/>
    <p:sldId id="261" r:id="rId4"/>
    <p:sldId id="256" r:id="rId5"/>
    <p:sldId id="257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67"/>
    <p:restoredTop sz="94709"/>
  </p:normalViewPr>
  <p:slideViewPr>
    <p:cSldViewPr snapToGrid="0" snapToObjects="1">
      <p:cViewPr varScale="1">
        <p:scale>
          <a:sx n="132" d="100"/>
          <a:sy n="132" d="100"/>
        </p:scale>
        <p:origin x="19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5297-705D-7741-8216-3D058131D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E1511-7769-4C43-8ADC-08FB4E678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C9379-31FC-904A-8B28-3DD5276E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CFED0-8EB3-5A4F-B4A7-B6AEACC7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E5ED1-7205-3F43-BC6C-4B353F06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65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F8C6-77FF-FF41-A815-549C4DA6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B2DCB-4EB9-C04D-9E5C-1774D6710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85670-DBD3-0E47-9166-519076DF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77D83-2BD6-2C40-85C9-6CD8CB73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9978A-E75B-6B47-9FA6-AA35A1743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3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9329-B6D3-2149-8892-A23AB4F0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6AA53-F86E-604D-B1BF-BA45E1C62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BE0FA-4562-DE4A-A35F-AF0CA482D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D7D39-B01B-3B40-B1B0-E2794A295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A7F79-B52B-CA49-9648-1ECB46A5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7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47E7-1EFD-364C-B421-0DA7C282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33465-EC43-CF41-A16A-7AD30AFAE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E42C1-B507-774E-B154-6A4C87419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E2E3E-C712-0640-8341-39D4AFE06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EA830-63F6-BD47-99FB-F93C6BB2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C21E-CD7B-634E-86A1-098C8831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8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5F080-2C26-C048-82D1-4454472A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8E8B9-9F5A-324E-B997-7E1544AFD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8F27D-C79C-444D-BE69-CD97A26E1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4A82E-78DA-B047-91B6-A5986AFC6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B1A18-9C5B-CA43-BEF7-AE597C654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5ACA0-79B2-5243-A78B-F8926362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E0329A-FFA0-584F-8379-FBECA39A1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B377C-D79B-3243-98F4-94726AD05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36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D462-D9BC-6A47-96DB-1270B694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044F2-0273-5E49-A0E2-9E9B9C90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9BF64-29D6-B841-98C0-670480829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1582B-9596-F946-B567-5B86EE03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0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4A4AE9-A046-514A-8044-F7F6218F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D31D91-64D0-3B4B-8C81-5BFA8B02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84BF3-A602-CD48-A3C8-422B9058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8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5D4D-F514-EC43-928B-BD6C49F0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9DC0-2CE0-8346-8D65-27880C5FD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98913-3B3B-A74A-880A-09DF93A8A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1E33B-28A9-F644-BE66-33452FBF6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C308C-6EB7-0C4D-AC15-BB6154C65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A1199-757E-5B46-BF8E-A8838CC1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0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40B7-3711-0541-89FF-2725814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C17AC-0531-D742-B176-C7D823932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FABB5-BB29-A34C-BE6F-90AEAC2F6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DE5B8-1D20-6345-BEE5-F749D11C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CBC1D-56D6-A64C-A9FA-BAEC52C7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F7F3B-2500-3E4A-9EF0-CFB548C6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1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6E78-C026-9741-9E8E-AACFCB9B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03CB-8FAF-5E4E-BD6C-8B1F3A9E9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B4F0F-9B06-794B-AC05-F138839F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3D7D6-BD0E-5245-8BE2-C35843C8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8BA83-1242-9A4E-8F25-07B75AA2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8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FC1C31-7D62-9041-90E2-C32FF22EF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E7391-3955-C643-BC2F-63F891930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AE746-0D0B-8144-AE7C-F1990502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34C3-B629-0646-B7D1-A6FAC131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1FFA0-87CD-7249-B729-0E0789C1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0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9B15C-63F2-D045-9EE0-C98496490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E410D-EC80-FC47-9332-B27EBEB67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79FA-403B-D84B-ACE4-D64B37AE3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2546D-C337-864E-97E4-436D2A8FC99A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0CB23-F2DA-D34B-A0EB-C85ED2217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97910-9250-2C44-BF5C-B9EB091FC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63A54-730C-F440-BD3F-86F3807B7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4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2D5C88-58DE-3C4F-951B-534CD55BC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Cutlery: Comprehensive Analysis Pipeline for CUT&amp;RUN Data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9DAA23B-D8D5-0548-BB93-CFE0892C9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2020/07/31</a:t>
            </a:r>
          </a:p>
          <a:p>
            <a:endParaRPr lang="en-US"/>
          </a:p>
          <a:p>
            <a:r>
              <a:rPr lang="en-US"/>
              <a:t>Hee-Woong Lim</a:t>
            </a:r>
            <a:endParaRPr lang="en-US" dirty="0"/>
          </a:p>
        </p:txBody>
      </p:sp>
      <p:pic>
        <p:nvPicPr>
          <p:cNvPr id="6" name="Graphic 5" descr="Fork and knife">
            <a:extLst>
              <a:ext uri="{FF2B5EF4-FFF2-40B4-BE49-F238E27FC236}">
                <a16:creationId xmlns:a16="http://schemas.microsoft.com/office/drawing/2014/main" id="{78FB66EF-3786-9A49-8201-079E7EEDF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8589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1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D206-B2E3-7346-B0CD-C7F1F59C5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4ADB5-EB56-9F40-9153-4333E5F77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Development of comprehensive analytic pipeline</a:t>
            </a:r>
          </a:p>
          <a:p>
            <a:r>
              <a:rPr lang="en-US" dirty="0"/>
              <a:t>Level 1: analogous to ChIP-seq data analysis</a:t>
            </a:r>
          </a:p>
          <a:p>
            <a:pPr lvl="1"/>
            <a:r>
              <a:rPr lang="en-US" dirty="0"/>
              <a:t>Peak calling</a:t>
            </a:r>
          </a:p>
          <a:p>
            <a:pPr lvl="1"/>
            <a:r>
              <a:rPr lang="en-US" dirty="0"/>
              <a:t>Motif search &amp; TF prediction</a:t>
            </a:r>
          </a:p>
          <a:p>
            <a:pPr lvl="1"/>
            <a:r>
              <a:rPr lang="en-US" dirty="0"/>
              <a:t>Visualization</a:t>
            </a:r>
          </a:p>
          <a:p>
            <a:r>
              <a:rPr lang="en-US" dirty="0"/>
              <a:t>Level 2: high-resolution chromatin landscape, i.e. footprint</a:t>
            </a:r>
          </a:p>
          <a:p>
            <a:pPr lvl="1"/>
            <a:r>
              <a:rPr lang="en-US" dirty="0"/>
              <a:t>Primary TF binding</a:t>
            </a:r>
          </a:p>
          <a:p>
            <a:pPr lvl="1"/>
            <a:r>
              <a:rPr lang="en-US" dirty="0"/>
              <a:t>Secondary TF binding</a:t>
            </a:r>
          </a:p>
          <a:p>
            <a:pPr lvl="1"/>
            <a:r>
              <a:rPr lang="en-US" dirty="0"/>
              <a:t>Co-binding</a:t>
            </a:r>
          </a:p>
          <a:p>
            <a:pPr lvl="1"/>
            <a:r>
              <a:rPr lang="en-US" dirty="0"/>
              <a:t>Bias correction</a:t>
            </a:r>
          </a:p>
          <a:p>
            <a:endParaRPr lang="en-US" dirty="0"/>
          </a:p>
          <a:p>
            <a:r>
              <a:rPr lang="en-US" dirty="0"/>
              <a:t>What about histone CUT&amp;RUN?</a:t>
            </a:r>
          </a:p>
          <a:p>
            <a:endParaRPr lang="en-US" dirty="0"/>
          </a:p>
          <a:p>
            <a:r>
              <a:rPr lang="en-US" dirty="0"/>
              <a:t>+ Packaging &amp; publication</a:t>
            </a:r>
          </a:p>
        </p:txBody>
      </p:sp>
      <p:pic>
        <p:nvPicPr>
          <p:cNvPr id="6" name="Graphic 5" descr="Fork and knife">
            <a:extLst>
              <a:ext uri="{FF2B5EF4-FFF2-40B4-BE49-F238E27FC236}">
                <a16:creationId xmlns:a16="http://schemas.microsoft.com/office/drawing/2014/main" id="{675562BA-B24F-CF42-BDC9-65DB79010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9737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64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CDEA10-9E18-5B48-A140-B6D4FD18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Challenges Ahead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3A55FF-7DF1-5D41-B7B6-081287DE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96887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Peak centering</a:t>
            </a:r>
          </a:p>
          <a:p>
            <a:pPr lvl="1"/>
            <a:r>
              <a:rPr lang="en-US" dirty="0"/>
              <a:t>Currently, peak is centered at the signal summit</a:t>
            </a:r>
          </a:p>
          <a:p>
            <a:pPr lvl="1"/>
            <a:r>
              <a:rPr lang="en-US" dirty="0"/>
              <a:t>Slight offset from the primary motif is observed unlike ChIP-seq peak</a:t>
            </a:r>
          </a:p>
          <a:p>
            <a:pPr lvl="1"/>
            <a:r>
              <a:rPr lang="en-US" dirty="0" err="1"/>
              <a:t>EChO</a:t>
            </a:r>
            <a:r>
              <a:rPr lang="en-US" dirty="0"/>
              <a:t> method?</a:t>
            </a:r>
          </a:p>
          <a:p>
            <a:r>
              <a:rPr lang="en-US" dirty="0"/>
              <a:t>Statistical model for robust footprint analysis</a:t>
            </a:r>
          </a:p>
          <a:p>
            <a:pPr lvl="1"/>
            <a:r>
              <a:rPr lang="en-US" dirty="0"/>
              <a:t>Joint model incorporating motif &amp; footprint</a:t>
            </a:r>
          </a:p>
          <a:p>
            <a:pPr lvl="1"/>
            <a:r>
              <a:rPr lang="en-US" dirty="0"/>
              <a:t>Benchmarking of analogous methods such as DNase footprint data</a:t>
            </a:r>
          </a:p>
          <a:p>
            <a:r>
              <a:rPr lang="en-US" dirty="0"/>
              <a:t>Performance evaluation platform</a:t>
            </a:r>
          </a:p>
          <a:p>
            <a:pPr lvl="1"/>
            <a:r>
              <a:rPr lang="en-US" dirty="0"/>
              <a:t>A few methods developed for CUT&amp;RUN footprint (e.g. </a:t>
            </a:r>
            <a:r>
              <a:rPr lang="en-US" dirty="0" err="1"/>
              <a:t>CUT&amp;RUNtools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Comprehensive benchmarking is yet to be done</a:t>
            </a:r>
          </a:p>
          <a:p>
            <a:pPr lvl="1"/>
            <a:r>
              <a:rPr lang="en-US" dirty="0"/>
              <a:t>How to evaluate the footprint performance</a:t>
            </a:r>
          </a:p>
          <a:p>
            <a:r>
              <a:rPr lang="en-US" dirty="0"/>
              <a:t>Packaging and publication</a:t>
            </a:r>
          </a:p>
          <a:p>
            <a:pPr lvl="1"/>
            <a:r>
              <a:rPr lang="en-US" dirty="0"/>
              <a:t>How to share our tool effectively with others?</a:t>
            </a:r>
          </a:p>
          <a:p>
            <a:pPr lvl="1"/>
            <a:r>
              <a:rPr lang="en-US" dirty="0" err="1"/>
              <a:t>Conda</a:t>
            </a:r>
            <a:r>
              <a:rPr lang="en-US" dirty="0"/>
              <a:t>? Docker? Or porting to different unified programming language?</a:t>
            </a:r>
          </a:p>
          <a:p>
            <a:pPr lvl="1"/>
            <a:endParaRPr lang="en-US" dirty="0"/>
          </a:p>
          <a:p>
            <a:r>
              <a:rPr lang="en-US" dirty="0"/>
              <a:t>Any further information we can learn from CUT&amp;RUN?</a:t>
            </a:r>
          </a:p>
          <a:p>
            <a:pPr lvl="1"/>
            <a:r>
              <a:rPr lang="en-US" dirty="0"/>
              <a:t>Other than histone modification from histone CUT&amp;RUN?</a:t>
            </a:r>
          </a:p>
        </p:txBody>
      </p:sp>
    </p:spTree>
    <p:extLst>
      <p:ext uri="{BB962C8B-B14F-4D97-AF65-F5344CB8AC3E}">
        <p14:creationId xmlns:p14="http://schemas.microsoft.com/office/powerpoint/2010/main" val="327254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12">
            <a:extLst>
              <a:ext uri="{FF2B5EF4-FFF2-40B4-BE49-F238E27FC236}">
                <a16:creationId xmlns:a16="http://schemas.microsoft.com/office/drawing/2014/main" id="{29D41109-E348-9648-B36A-D5AF1498CB45}"/>
              </a:ext>
            </a:extLst>
          </p:cNvPr>
          <p:cNvSpPr/>
          <p:nvPr/>
        </p:nvSpPr>
        <p:spPr>
          <a:xfrm>
            <a:off x="1865319" y="1427305"/>
            <a:ext cx="642257" cy="2940239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C796C03-4AD6-2341-ABE2-6195814B7A0F}"/>
              </a:ext>
            </a:extLst>
          </p:cNvPr>
          <p:cNvSpPr/>
          <p:nvPr/>
        </p:nvSpPr>
        <p:spPr>
          <a:xfrm>
            <a:off x="1353690" y="1253134"/>
            <a:ext cx="1763486" cy="429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Fastq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D14D0E-C085-FE4B-B881-F1F43870D1B5}"/>
              </a:ext>
            </a:extLst>
          </p:cNvPr>
          <p:cNvSpPr/>
          <p:nvPr/>
        </p:nvSpPr>
        <p:spPr>
          <a:xfrm>
            <a:off x="1353690" y="1876016"/>
            <a:ext cx="1763486" cy="429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Adapter trimming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2950F-06F1-3C42-959D-3DF59017BB2A}"/>
              </a:ext>
            </a:extLst>
          </p:cNvPr>
          <p:cNvSpPr/>
          <p:nvPr/>
        </p:nvSpPr>
        <p:spPr>
          <a:xfrm>
            <a:off x="1353690" y="2498898"/>
            <a:ext cx="1763486" cy="429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Alignment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04494-A68D-DE4E-BCA2-21E5C34913DA}"/>
              </a:ext>
            </a:extLst>
          </p:cNvPr>
          <p:cNvSpPr/>
          <p:nvPr/>
        </p:nvSpPr>
        <p:spPr>
          <a:xfrm>
            <a:off x="1353690" y="3121780"/>
            <a:ext cx="1763486" cy="429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Filtering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659264-2055-7E4A-940E-CC1AE876CF13}"/>
              </a:ext>
            </a:extLst>
          </p:cNvPr>
          <p:cNvSpPr/>
          <p:nvPr/>
        </p:nvSpPr>
        <p:spPr>
          <a:xfrm>
            <a:off x="1353690" y="3744662"/>
            <a:ext cx="1763486" cy="4299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Deduplication </a:t>
            </a:r>
            <a:r>
              <a:rPr lang="en-US" sz="1400" dirty="0"/>
              <a:t>(optional)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BB6745-9937-664C-8D49-4D327DFB336E}"/>
              </a:ext>
            </a:extLst>
          </p:cNvPr>
          <p:cNvSpPr txBox="1"/>
          <p:nvPr/>
        </p:nvSpPr>
        <p:spPr>
          <a:xfrm>
            <a:off x="318454" y="221196"/>
            <a:ext cx="2849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Current status of Cutlery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4DA1DF1-187C-9B45-A37F-29C99D68EC4C}"/>
              </a:ext>
            </a:extLst>
          </p:cNvPr>
          <p:cNvSpPr/>
          <p:nvPr/>
        </p:nvSpPr>
        <p:spPr>
          <a:xfrm>
            <a:off x="1353690" y="4390876"/>
            <a:ext cx="1763486" cy="429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Processed BAM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636F5E8-01EE-DA4F-8B2C-6DE5FD254760}"/>
              </a:ext>
            </a:extLst>
          </p:cNvPr>
          <p:cNvSpPr/>
          <p:nvPr/>
        </p:nvSpPr>
        <p:spPr>
          <a:xfrm>
            <a:off x="3677791" y="1830357"/>
            <a:ext cx="196932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Fragment groups</a:t>
            </a:r>
          </a:p>
          <a:p>
            <a:pPr algn="ctr"/>
            <a:r>
              <a:rPr lang="en-US" sz="1200" dirty="0"/>
              <a:t>NFR/NUC/all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74FD820-3E35-A348-AD45-2B74B4368DF9}"/>
              </a:ext>
            </a:extLst>
          </p:cNvPr>
          <p:cNvSpPr/>
          <p:nvPr/>
        </p:nvSpPr>
        <p:spPr>
          <a:xfrm>
            <a:off x="4900535" y="2429818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Nucleotide base frequency at frag. ends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90B62CFA-C649-834A-9B96-C3BE2178FF0C}"/>
              </a:ext>
            </a:extLst>
          </p:cNvPr>
          <p:cNvCxnSpPr>
            <a:cxnSpLocks/>
            <a:stCxn id="12" idx="2"/>
            <a:endCxn id="33" idx="1"/>
          </p:cNvCxnSpPr>
          <p:nvPr/>
        </p:nvCxnSpPr>
        <p:spPr>
          <a:xfrm rot="16200000" flipH="1">
            <a:off x="4573078" y="2284991"/>
            <a:ext cx="416832" cy="2380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64CCD20-D52F-2A42-89D6-9B12024436B8}"/>
              </a:ext>
            </a:extLst>
          </p:cNvPr>
          <p:cNvCxnSpPr>
            <a:cxnSpLocks/>
            <a:stCxn id="16" idx="3"/>
            <a:endCxn id="12" idx="1"/>
          </p:cNvCxnSpPr>
          <p:nvPr/>
        </p:nvCxnSpPr>
        <p:spPr>
          <a:xfrm flipV="1">
            <a:off x="3117176" y="2012987"/>
            <a:ext cx="560615" cy="25928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56B9274-7C3E-2B4D-BAF8-83B2025CEAA2}"/>
              </a:ext>
            </a:extLst>
          </p:cNvPr>
          <p:cNvSpPr/>
          <p:nvPr/>
        </p:nvSpPr>
        <p:spPr>
          <a:xfrm>
            <a:off x="4900538" y="2958942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Fragment length distribution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717D7D3-1822-BE4D-A50D-348F6F15C7E5}"/>
              </a:ext>
            </a:extLst>
          </p:cNvPr>
          <p:cNvSpPr/>
          <p:nvPr/>
        </p:nvSpPr>
        <p:spPr>
          <a:xfrm>
            <a:off x="4900538" y="3462111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K-mer frequency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B5430D3-E119-9F4D-AA05-69D5E125DC5F}"/>
              </a:ext>
            </a:extLst>
          </p:cNvPr>
          <p:cNvSpPr/>
          <p:nvPr/>
        </p:nvSpPr>
        <p:spPr>
          <a:xfrm>
            <a:off x="4900538" y="3947740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Homer tag directories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E5414DB8-4E5B-EA46-B800-9B24A1566670}"/>
              </a:ext>
            </a:extLst>
          </p:cNvPr>
          <p:cNvSpPr/>
          <p:nvPr/>
        </p:nvSpPr>
        <p:spPr>
          <a:xfrm>
            <a:off x="6904230" y="3947739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Homer peak calling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19DEB9A-A216-6C44-BA3B-1382C5A0B0F9}"/>
              </a:ext>
            </a:extLst>
          </p:cNvPr>
          <p:cNvSpPr/>
          <p:nvPr/>
        </p:nvSpPr>
        <p:spPr>
          <a:xfrm>
            <a:off x="4900537" y="4443001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BigWig</a:t>
            </a:r>
            <a:r>
              <a:rPr lang="en-US" sz="1200" dirty="0"/>
              <a:t> files from fragments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97BDE05-C7EA-4A4E-81D8-A0C92CAEBFB2}"/>
              </a:ext>
            </a:extLst>
          </p:cNvPr>
          <p:cNvSpPr/>
          <p:nvPr/>
        </p:nvSpPr>
        <p:spPr>
          <a:xfrm>
            <a:off x="4900536" y="5449719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FCL file (</a:t>
            </a:r>
            <a:r>
              <a:rPr lang="en-US" sz="1200" dirty="0" err="1"/>
              <a:t>fcl.bed.gz</a:t>
            </a:r>
            <a:r>
              <a:rPr lang="en-US" sz="1200" dirty="0"/>
              <a:t>)</a:t>
            </a:r>
          </a:p>
        </p:txBody>
      </p: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CF7EA071-CADC-3243-8D19-73781C350622}"/>
              </a:ext>
            </a:extLst>
          </p:cNvPr>
          <p:cNvCxnSpPr>
            <a:cxnSpLocks/>
            <a:stCxn id="12" idx="2"/>
            <a:endCxn id="41" idx="1"/>
          </p:cNvCxnSpPr>
          <p:nvPr/>
        </p:nvCxnSpPr>
        <p:spPr>
          <a:xfrm rot="16200000" flipH="1">
            <a:off x="4056934" y="2801136"/>
            <a:ext cx="1449125" cy="2380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A542672C-B143-C348-9C40-E3AE09899B31}"/>
              </a:ext>
            </a:extLst>
          </p:cNvPr>
          <p:cNvCxnSpPr>
            <a:cxnSpLocks/>
            <a:stCxn id="12" idx="2"/>
            <a:endCxn id="42" idx="1"/>
          </p:cNvCxnSpPr>
          <p:nvPr/>
        </p:nvCxnSpPr>
        <p:spPr>
          <a:xfrm rot="16200000" flipH="1">
            <a:off x="3814119" y="3043951"/>
            <a:ext cx="1934754" cy="2380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2AE8E41E-C624-904A-B6F3-461B5E02C9F6}"/>
              </a:ext>
            </a:extLst>
          </p:cNvPr>
          <p:cNvCxnSpPr>
            <a:cxnSpLocks/>
            <a:stCxn id="12" idx="2"/>
            <a:endCxn id="46" idx="1"/>
          </p:cNvCxnSpPr>
          <p:nvPr/>
        </p:nvCxnSpPr>
        <p:spPr>
          <a:xfrm rot="16200000" flipH="1">
            <a:off x="3566488" y="3291581"/>
            <a:ext cx="2430015" cy="2380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7E91A5E6-9CC1-1840-8714-764176AF5D29}"/>
              </a:ext>
            </a:extLst>
          </p:cNvPr>
          <p:cNvCxnSpPr>
            <a:cxnSpLocks/>
            <a:stCxn id="12" idx="2"/>
            <a:endCxn id="47" idx="1"/>
          </p:cNvCxnSpPr>
          <p:nvPr/>
        </p:nvCxnSpPr>
        <p:spPr>
          <a:xfrm rot="16200000" flipH="1">
            <a:off x="3063129" y="3794941"/>
            <a:ext cx="3436733" cy="2380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2E58FF-6012-9741-9011-1CE8A9024EDA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 flipV="1">
            <a:off x="6690833" y="4130369"/>
            <a:ext cx="2133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3624C182-8CF6-A14E-9516-33F1AF866548}"/>
              </a:ext>
            </a:extLst>
          </p:cNvPr>
          <p:cNvSpPr/>
          <p:nvPr/>
        </p:nvSpPr>
        <p:spPr>
          <a:xfrm>
            <a:off x="3677791" y="1315764"/>
            <a:ext cx="7316633" cy="350728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Processed sample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BF8A870D-E4ED-8747-9D01-B8C9EF8D9305}"/>
              </a:ext>
            </a:extLst>
          </p:cNvPr>
          <p:cNvSpPr/>
          <p:nvPr/>
        </p:nvSpPr>
        <p:spPr>
          <a:xfrm>
            <a:off x="4900535" y="4946360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BigWig</a:t>
            </a:r>
            <a:r>
              <a:rPr lang="en-US" sz="1200" dirty="0"/>
              <a:t> files from 5’ 1bp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BBF09D12-5FE0-C64C-B528-23B6FE23761B}"/>
              </a:ext>
            </a:extLst>
          </p:cNvPr>
          <p:cNvCxnSpPr>
            <a:cxnSpLocks/>
            <a:stCxn id="12" idx="2"/>
            <a:endCxn id="77" idx="1"/>
          </p:cNvCxnSpPr>
          <p:nvPr/>
        </p:nvCxnSpPr>
        <p:spPr>
          <a:xfrm rot="16200000" flipH="1">
            <a:off x="3314807" y="3543262"/>
            <a:ext cx="2933374" cy="2380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77B71131-436D-B74E-B90E-E1ACA750E794}"/>
              </a:ext>
            </a:extLst>
          </p:cNvPr>
          <p:cNvCxnSpPr>
            <a:cxnSpLocks/>
            <a:stCxn id="12" idx="2"/>
            <a:endCxn id="40" idx="1"/>
          </p:cNvCxnSpPr>
          <p:nvPr/>
        </p:nvCxnSpPr>
        <p:spPr>
          <a:xfrm rot="16200000" flipH="1">
            <a:off x="4308518" y="2549552"/>
            <a:ext cx="945956" cy="2380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18EEE553-B81B-5B4C-87FA-B2F3F90D9852}"/>
              </a:ext>
            </a:extLst>
          </p:cNvPr>
          <p:cNvSpPr/>
          <p:nvPr/>
        </p:nvSpPr>
        <p:spPr>
          <a:xfrm>
            <a:off x="8895396" y="3947739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Motif search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AB91A14-AD05-BE47-BB61-4CAC296AC671}"/>
              </a:ext>
            </a:extLst>
          </p:cNvPr>
          <p:cNvCxnSpPr>
            <a:cxnSpLocks/>
            <a:stCxn id="45" idx="3"/>
            <a:endCxn id="96" idx="1"/>
          </p:cNvCxnSpPr>
          <p:nvPr/>
        </p:nvCxnSpPr>
        <p:spPr>
          <a:xfrm>
            <a:off x="8694525" y="4130369"/>
            <a:ext cx="200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854C52C9-B94F-EC4A-B031-12E4A82CF728}"/>
              </a:ext>
            </a:extLst>
          </p:cNvPr>
          <p:cNvSpPr/>
          <p:nvPr/>
        </p:nvSpPr>
        <p:spPr>
          <a:xfrm>
            <a:off x="6904230" y="4452001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Peak visualization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21896C8-6D35-124A-B772-D82E1760801D}"/>
              </a:ext>
            </a:extLst>
          </p:cNvPr>
          <p:cNvCxnSpPr>
            <a:cxnSpLocks/>
            <a:stCxn id="46" idx="3"/>
            <a:endCxn id="101" idx="1"/>
          </p:cNvCxnSpPr>
          <p:nvPr/>
        </p:nvCxnSpPr>
        <p:spPr>
          <a:xfrm>
            <a:off x="6690832" y="4625631"/>
            <a:ext cx="213398" cy="9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E061059A-9C59-E543-B0E7-6329E292E1DE}"/>
              </a:ext>
            </a:extLst>
          </p:cNvPr>
          <p:cNvSpPr/>
          <p:nvPr/>
        </p:nvSpPr>
        <p:spPr>
          <a:xfrm>
            <a:off x="8895395" y="4947525"/>
            <a:ext cx="1790295" cy="365259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Footprint analysis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78FD154-0F81-F74B-8C6D-2D46E1DB1B08}"/>
              </a:ext>
            </a:extLst>
          </p:cNvPr>
          <p:cNvCxnSpPr>
            <a:cxnSpLocks/>
            <a:stCxn id="77" idx="3"/>
            <a:endCxn id="105" idx="1"/>
          </p:cNvCxnSpPr>
          <p:nvPr/>
        </p:nvCxnSpPr>
        <p:spPr>
          <a:xfrm>
            <a:off x="6690830" y="5128990"/>
            <a:ext cx="2204565" cy="1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A123CDE-843E-C54A-85B5-9CB7E7CE8AB2}"/>
              </a:ext>
            </a:extLst>
          </p:cNvPr>
          <p:cNvCxnSpPr>
            <a:cxnSpLocks/>
            <a:stCxn id="96" idx="2"/>
            <a:endCxn id="105" idx="0"/>
          </p:cNvCxnSpPr>
          <p:nvPr/>
        </p:nvCxnSpPr>
        <p:spPr>
          <a:xfrm flipH="1">
            <a:off x="9790543" y="4312998"/>
            <a:ext cx="1" cy="63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AA268D84-67B6-AA4C-B829-D087552C512E}"/>
              </a:ext>
            </a:extLst>
          </p:cNvPr>
          <p:cNvSpPr txBox="1"/>
          <p:nvPr/>
        </p:nvSpPr>
        <p:spPr>
          <a:xfrm>
            <a:off x="3866067" y="236585"/>
            <a:ext cx="49579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Bunch of bash and R scripts</a:t>
            </a:r>
          </a:p>
          <a:p>
            <a:pPr marL="285750" indent="-285750">
              <a:buFontTx/>
              <a:buChar char="-"/>
            </a:pPr>
            <a:r>
              <a:rPr lang="en-US" dirty="0"/>
              <a:t>Snakemake-based automatic parallel processing</a:t>
            </a:r>
          </a:p>
        </p:txBody>
      </p:sp>
    </p:spTree>
    <p:extLst>
      <p:ext uri="{BB962C8B-B14F-4D97-AF65-F5344CB8AC3E}">
        <p14:creationId xmlns:p14="http://schemas.microsoft.com/office/powerpoint/2010/main" val="624347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5B820E99-7EB8-CD40-B892-6084204CD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8834" y="82550"/>
            <a:ext cx="5041900" cy="66929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2982567-BB46-724E-885A-E2C0D7FAC603}"/>
              </a:ext>
            </a:extLst>
          </p:cNvPr>
          <p:cNvGrpSpPr/>
          <p:nvPr/>
        </p:nvGrpSpPr>
        <p:grpSpPr>
          <a:xfrm>
            <a:off x="2993444" y="1076316"/>
            <a:ext cx="1025259" cy="729336"/>
            <a:chOff x="7216902" y="281431"/>
            <a:chExt cx="751562" cy="72933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C0C46DFC-5DB2-1F46-92BF-5163C83D43BC}"/>
                </a:ext>
              </a:extLst>
            </p:cNvPr>
            <p:cNvSpPr/>
            <p:nvPr/>
          </p:nvSpPr>
          <p:spPr>
            <a:xfrm>
              <a:off x="7216902" y="281431"/>
              <a:ext cx="751562" cy="194442"/>
            </a:xfrm>
            <a:prstGeom prst="round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Folder</a:t>
              </a:r>
              <a:endParaRPr lang="en-US" sz="1400" dirty="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C6854D0-121F-2846-841E-E6A79637D7CB}"/>
                </a:ext>
              </a:extLst>
            </p:cNvPr>
            <p:cNvSpPr/>
            <p:nvPr/>
          </p:nvSpPr>
          <p:spPr>
            <a:xfrm>
              <a:off x="7216902" y="548878"/>
              <a:ext cx="751562" cy="194442"/>
            </a:xfrm>
            <a:prstGeom prst="round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File</a:t>
              </a:r>
              <a:endParaRPr lang="en-US" sz="1400" dirty="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1974E57-87B5-1C43-A1AB-D4FD7B643CCF}"/>
                </a:ext>
              </a:extLst>
            </p:cNvPr>
            <p:cNvSpPr/>
            <p:nvPr/>
          </p:nvSpPr>
          <p:spPr>
            <a:xfrm>
              <a:off x="7216902" y="816325"/>
              <a:ext cx="751562" cy="194442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Text field</a:t>
              </a:r>
              <a:endParaRPr lang="en-US" sz="1400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EA6BC71-6FA5-7447-A684-5B275D64F68B}"/>
              </a:ext>
            </a:extLst>
          </p:cNvPr>
          <p:cNvSpPr txBox="1"/>
          <p:nvPr/>
        </p:nvSpPr>
        <p:spPr>
          <a:xfrm>
            <a:off x="221569" y="193455"/>
            <a:ext cx="3147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Processed Sample Directory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7C377-7C6B-3C4A-8E00-293DB6954AC3}"/>
              </a:ext>
            </a:extLst>
          </p:cNvPr>
          <p:cNvSpPr txBox="1"/>
          <p:nvPr/>
        </p:nvSpPr>
        <p:spPr>
          <a:xfrm>
            <a:off x="8178025" y="445145"/>
            <a:ext cx="1416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Sample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3B0F9-BB95-1F4D-9AA7-C98A71E2AD81}"/>
              </a:ext>
            </a:extLst>
          </p:cNvPr>
          <p:cNvSpPr txBox="1"/>
          <p:nvPr/>
        </p:nvSpPr>
        <p:spPr>
          <a:xfrm>
            <a:off x="8173297" y="1240753"/>
            <a:ext cx="1112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Quality control</a:t>
            </a:r>
          </a:p>
          <a:p>
            <a:r>
              <a:rPr lang="en-US" sz="1200" dirty="0"/>
              <a:t>&amp; k-mer bias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27E09-6F76-564E-BCD7-6FF7069ABD88}"/>
              </a:ext>
            </a:extLst>
          </p:cNvPr>
          <p:cNvSpPr txBox="1"/>
          <p:nvPr/>
        </p:nvSpPr>
        <p:spPr>
          <a:xfrm>
            <a:off x="8173297" y="2100382"/>
            <a:ext cx="12412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Fragment groups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EFE1F-2F6E-E741-A962-E3A1224E17B9}"/>
              </a:ext>
            </a:extLst>
          </p:cNvPr>
          <p:cNvSpPr txBox="1"/>
          <p:nvPr/>
        </p:nvSpPr>
        <p:spPr>
          <a:xfrm>
            <a:off x="8173297" y="2595208"/>
            <a:ext cx="1444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Homer tag directory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7838D-8D58-D043-9B8A-1EF1B124A206}"/>
              </a:ext>
            </a:extLst>
          </p:cNvPr>
          <p:cNvSpPr txBox="1"/>
          <p:nvPr/>
        </p:nvSpPr>
        <p:spPr>
          <a:xfrm>
            <a:off x="8173297" y="3231837"/>
            <a:ext cx="24198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TF peak calling using NFR fragments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16CF88-CEB8-B840-9C06-CB1032318315}"/>
              </a:ext>
            </a:extLst>
          </p:cNvPr>
          <p:cNvSpPr txBox="1"/>
          <p:nvPr/>
        </p:nvSpPr>
        <p:spPr>
          <a:xfrm>
            <a:off x="8189923" y="3732224"/>
            <a:ext cx="1432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Histone peak calling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A4BF9D-5AF7-DE47-9ACE-DE5BE8EA74CA}"/>
              </a:ext>
            </a:extLst>
          </p:cNvPr>
          <p:cNvSpPr txBox="1"/>
          <p:nvPr/>
        </p:nvSpPr>
        <p:spPr>
          <a:xfrm>
            <a:off x="8189923" y="4430245"/>
            <a:ext cx="23108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TF peak calling using all fragments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E837FD-B554-E64E-ADAD-4781FAC168D7}"/>
              </a:ext>
            </a:extLst>
          </p:cNvPr>
          <p:cNvSpPr txBox="1"/>
          <p:nvPr/>
        </p:nvSpPr>
        <p:spPr>
          <a:xfrm>
            <a:off x="8173297" y="4794590"/>
            <a:ext cx="1935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bigwig file (resized) using</a:t>
            </a:r>
          </a:p>
          <a:p>
            <a:r>
              <a:rPr lang="en-US" sz="1200" dirty="0"/>
              <a:t>distinct groups of fragments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E4E861-AFD4-6448-8592-214DAA32AE5B}"/>
              </a:ext>
            </a:extLst>
          </p:cNvPr>
          <p:cNvSpPr txBox="1"/>
          <p:nvPr/>
        </p:nvSpPr>
        <p:spPr>
          <a:xfrm>
            <a:off x="8173297" y="5340248"/>
            <a:ext cx="1683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bigwig file (5’-ends 1bp)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894847-0F70-D345-8C68-2E62E1AE8BCA}"/>
              </a:ext>
            </a:extLst>
          </p:cNvPr>
          <p:cNvSpPr txBox="1"/>
          <p:nvPr/>
        </p:nvSpPr>
        <p:spPr>
          <a:xfrm>
            <a:off x="8173297" y="5812713"/>
            <a:ext cx="2533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bigwig file using all original fragments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F62DB2-052A-314B-9366-E09A352D74B8}"/>
              </a:ext>
            </a:extLst>
          </p:cNvPr>
          <p:cNvSpPr txBox="1"/>
          <p:nvPr/>
        </p:nvSpPr>
        <p:spPr>
          <a:xfrm>
            <a:off x="8173297" y="6285179"/>
            <a:ext cx="2024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fragment center x length file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EECC53-D832-7C40-BB15-7B84739A8BC2}"/>
              </a:ext>
            </a:extLst>
          </p:cNvPr>
          <p:cNvSpPr txBox="1"/>
          <p:nvPr/>
        </p:nvSpPr>
        <p:spPr>
          <a:xfrm>
            <a:off x="380302" y="5458518"/>
            <a:ext cx="39098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Still exploring phase for best analysis</a:t>
            </a:r>
          </a:p>
          <a:p>
            <a:pPr marL="285750" indent="-285750">
              <a:buFontTx/>
              <a:buChar char="-"/>
            </a:pPr>
            <a:r>
              <a:rPr lang="en-US" dirty="0"/>
              <a:t>Overlap &amp; redundancy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 be more concise</a:t>
            </a:r>
          </a:p>
        </p:txBody>
      </p:sp>
    </p:spTree>
    <p:extLst>
      <p:ext uri="{BB962C8B-B14F-4D97-AF65-F5344CB8AC3E}">
        <p14:creationId xmlns:p14="http://schemas.microsoft.com/office/powerpoint/2010/main" val="1763736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53D689-9AD5-654A-84B8-9EEDB644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A8E3FA-6E27-CA47-A74E-A6B2FE72B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previous version</a:t>
            </a:r>
          </a:p>
        </p:txBody>
      </p:sp>
    </p:spTree>
    <p:extLst>
      <p:ext uri="{BB962C8B-B14F-4D97-AF65-F5344CB8AC3E}">
        <p14:creationId xmlns:p14="http://schemas.microsoft.com/office/powerpoint/2010/main" val="1900252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12">
            <a:extLst>
              <a:ext uri="{FF2B5EF4-FFF2-40B4-BE49-F238E27FC236}">
                <a16:creationId xmlns:a16="http://schemas.microsoft.com/office/drawing/2014/main" id="{29D41109-E348-9648-B36A-D5AF1498CB45}"/>
              </a:ext>
            </a:extLst>
          </p:cNvPr>
          <p:cNvSpPr/>
          <p:nvPr/>
        </p:nvSpPr>
        <p:spPr>
          <a:xfrm>
            <a:off x="1865319" y="1427305"/>
            <a:ext cx="642257" cy="2940239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C796C03-4AD6-2341-ABE2-6195814B7A0F}"/>
              </a:ext>
            </a:extLst>
          </p:cNvPr>
          <p:cNvSpPr/>
          <p:nvPr/>
        </p:nvSpPr>
        <p:spPr>
          <a:xfrm>
            <a:off x="1353690" y="1253134"/>
            <a:ext cx="1763486" cy="429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Fastq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D14D0E-C085-FE4B-B881-F1F43870D1B5}"/>
              </a:ext>
            </a:extLst>
          </p:cNvPr>
          <p:cNvSpPr/>
          <p:nvPr/>
        </p:nvSpPr>
        <p:spPr>
          <a:xfrm>
            <a:off x="1353690" y="1876016"/>
            <a:ext cx="1763486" cy="429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Adapter trimming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2950F-06F1-3C42-959D-3DF59017BB2A}"/>
              </a:ext>
            </a:extLst>
          </p:cNvPr>
          <p:cNvSpPr/>
          <p:nvPr/>
        </p:nvSpPr>
        <p:spPr>
          <a:xfrm>
            <a:off x="1353690" y="2498898"/>
            <a:ext cx="1763486" cy="429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Alignment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04494-A68D-DE4E-BCA2-21E5C34913DA}"/>
              </a:ext>
            </a:extLst>
          </p:cNvPr>
          <p:cNvSpPr/>
          <p:nvPr/>
        </p:nvSpPr>
        <p:spPr>
          <a:xfrm>
            <a:off x="1353690" y="3121780"/>
            <a:ext cx="1763486" cy="429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Filtering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659264-2055-7E4A-940E-CC1AE876CF13}"/>
              </a:ext>
            </a:extLst>
          </p:cNvPr>
          <p:cNvSpPr/>
          <p:nvPr/>
        </p:nvSpPr>
        <p:spPr>
          <a:xfrm>
            <a:off x="1353690" y="3744662"/>
            <a:ext cx="1763486" cy="4299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Deduplication </a:t>
            </a:r>
            <a:r>
              <a:rPr lang="en-US" sz="1400" dirty="0"/>
              <a:t>(optional)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BB6745-9937-664C-8D49-4D327DFB336E}"/>
              </a:ext>
            </a:extLst>
          </p:cNvPr>
          <p:cNvSpPr txBox="1"/>
          <p:nvPr/>
        </p:nvSpPr>
        <p:spPr>
          <a:xfrm>
            <a:off x="318454" y="221196"/>
            <a:ext cx="2849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Current status of Cutlery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4DA1DF1-187C-9B45-A37F-29C99D68EC4C}"/>
              </a:ext>
            </a:extLst>
          </p:cNvPr>
          <p:cNvSpPr/>
          <p:nvPr/>
        </p:nvSpPr>
        <p:spPr>
          <a:xfrm>
            <a:off x="1353690" y="4390876"/>
            <a:ext cx="1763486" cy="429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Processed BAM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636F5E8-01EE-DA4F-8B2C-6DE5FD254760}"/>
              </a:ext>
            </a:extLst>
          </p:cNvPr>
          <p:cNvSpPr/>
          <p:nvPr/>
        </p:nvSpPr>
        <p:spPr>
          <a:xfrm>
            <a:off x="3677791" y="2404865"/>
            <a:ext cx="196932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Fragment groups</a:t>
            </a:r>
          </a:p>
          <a:p>
            <a:pPr algn="ctr"/>
            <a:r>
              <a:rPr lang="en-US" sz="1200" dirty="0"/>
              <a:t>NFR/NUC/all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74FD820-3E35-A348-AD45-2B74B4368DF9}"/>
              </a:ext>
            </a:extLst>
          </p:cNvPr>
          <p:cNvSpPr/>
          <p:nvPr/>
        </p:nvSpPr>
        <p:spPr>
          <a:xfrm>
            <a:off x="3677791" y="1863007"/>
            <a:ext cx="196932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*Nucleotide base frequency</a:t>
            </a:r>
          </a:p>
          <a:p>
            <a:pPr algn="ctr"/>
            <a:r>
              <a:rPr lang="en-US" sz="1200" dirty="0"/>
              <a:t>at 5’-ends of reads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90B62CFA-C649-834A-9B96-C3BE2178FF0C}"/>
              </a:ext>
            </a:extLst>
          </p:cNvPr>
          <p:cNvCxnSpPr>
            <a:cxnSpLocks/>
            <a:stCxn id="16" idx="3"/>
            <a:endCxn id="33" idx="1"/>
          </p:cNvCxnSpPr>
          <p:nvPr/>
        </p:nvCxnSpPr>
        <p:spPr>
          <a:xfrm flipV="1">
            <a:off x="3117176" y="2045637"/>
            <a:ext cx="560615" cy="25602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64CCD20-D52F-2A42-89D6-9B12024436B8}"/>
              </a:ext>
            </a:extLst>
          </p:cNvPr>
          <p:cNvCxnSpPr>
            <a:cxnSpLocks/>
            <a:stCxn id="16" idx="3"/>
            <a:endCxn id="12" idx="1"/>
          </p:cNvCxnSpPr>
          <p:nvPr/>
        </p:nvCxnSpPr>
        <p:spPr>
          <a:xfrm flipV="1">
            <a:off x="3117176" y="2587495"/>
            <a:ext cx="560615" cy="20183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56B9274-7C3E-2B4D-BAF8-83B2025CEAA2}"/>
              </a:ext>
            </a:extLst>
          </p:cNvPr>
          <p:cNvSpPr/>
          <p:nvPr/>
        </p:nvSpPr>
        <p:spPr>
          <a:xfrm>
            <a:off x="4900538" y="2958942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Fragment length distribution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717D7D3-1822-BE4D-A50D-348F6F15C7E5}"/>
              </a:ext>
            </a:extLst>
          </p:cNvPr>
          <p:cNvSpPr/>
          <p:nvPr/>
        </p:nvSpPr>
        <p:spPr>
          <a:xfrm>
            <a:off x="4900538" y="3462111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K-mer frequency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B5430D3-E119-9F4D-AA05-69D5E125DC5F}"/>
              </a:ext>
            </a:extLst>
          </p:cNvPr>
          <p:cNvSpPr/>
          <p:nvPr/>
        </p:nvSpPr>
        <p:spPr>
          <a:xfrm>
            <a:off x="4900538" y="3947740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Homer tag directories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E5414DB8-4E5B-EA46-B800-9B24A1566670}"/>
              </a:ext>
            </a:extLst>
          </p:cNvPr>
          <p:cNvSpPr/>
          <p:nvPr/>
        </p:nvSpPr>
        <p:spPr>
          <a:xfrm>
            <a:off x="6904230" y="3947739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Homer peak calling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19DEB9A-A216-6C44-BA3B-1382C5A0B0F9}"/>
              </a:ext>
            </a:extLst>
          </p:cNvPr>
          <p:cNvSpPr/>
          <p:nvPr/>
        </p:nvSpPr>
        <p:spPr>
          <a:xfrm>
            <a:off x="4900537" y="4443001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BigWig</a:t>
            </a:r>
            <a:r>
              <a:rPr lang="en-US" sz="1200" dirty="0"/>
              <a:t> files from fragments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97BDE05-C7EA-4A4E-81D8-A0C92CAEBFB2}"/>
              </a:ext>
            </a:extLst>
          </p:cNvPr>
          <p:cNvSpPr/>
          <p:nvPr/>
        </p:nvSpPr>
        <p:spPr>
          <a:xfrm>
            <a:off x="4900536" y="5449719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FCL file (</a:t>
            </a:r>
            <a:r>
              <a:rPr lang="en-US" sz="1200" dirty="0" err="1"/>
              <a:t>fcl.bed.gz</a:t>
            </a:r>
            <a:r>
              <a:rPr lang="en-US" sz="1200" dirty="0"/>
              <a:t>)</a:t>
            </a:r>
          </a:p>
        </p:txBody>
      </p: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CF7EA071-CADC-3243-8D19-73781C350622}"/>
              </a:ext>
            </a:extLst>
          </p:cNvPr>
          <p:cNvCxnSpPr>
            <a:cxnSpLocks/>
            <a:stCxn id="12" idx="2"/>
            <a:endCxn id="41" idx="1"/>
          </p:cNvCxnSpPr>
          <p:nvPr/>
        </p:nvCxnSpPr>
        <p:spPr>
          <a:xfrm rot="16200000" flipH="1">
            <a:off x="4344188" y="3088390"/>
            <a:ext cx="874617" cy="2380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A542672C-B143-C348-9C40-E3AE09899B31}"/>
              </a:ext>
            </a:extLst>
          </p:cNvPr>
          <p:cNvCxnSpPr>
            <a:cxnSpLocks/>
            <a:stCxn id="12" idx="2"/>
            <a:endCxn id="42" idx="1"/>
          </p:cNvCxnSpPr>
          <p:nvPr/>
        </p:nvCxnSpPr>
        <p:spPr>
          <a:xfrm rot="16200000" flipH="1">
            <a:off x="4101373" y="3331205"/>
            <a:ext cx="1360246" cy="2380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2AE8E41E-C624-904A-B6F3-461B5E02C9F6}"/>
              </a:ext>
            </a:extLst>
          </p:cNvPr>
          <p:cNvCxnSpPr>
            <a:cxnSpLocks/>
            <a:stCxn id="12" idx="2"/>
            <a:endCxn id="46" idx="1"/>
          </p:cNvCxnSpPr>
          <p:nvPr/>
        </p:nvCxnSpPr>
        <p:spPr>
          <a:xfrm rot="16200000" flipH="1">
            <a:off x="3853742" y="3578835"/>
            <a:ext cx="1855507" cy="2380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7E91A5E6-9CC1-1840-8714-764176AF5D29}"/>
              </a:ext>
            </a:extLst>
          </p:cNvPr>
          <p:cNvCxnSpPr>
            <a:cxnSpLocks/>
            <a:stCxn id="12" idx="2"/>
            <a:endCxn id="47" idx="1"/>
          </p:cNvCxnSpPr>
          <p:nvPr/>
        </p:nvCxnSpPr>
        <p:spPr>
          <a:xfrm rot="16200000" flipH="1">
            <a:off x="3350383" y="4082195"/>
            <a:ext cx="2862225" cy="2380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B6D663B-A05A-A647-88EA-BC162F5E9E27}"/>
              </a:ext>
            </a:extLst>
          </p:cNvPr>
          <p:cNvSpPr txBox="1"/>
          <p:nvPr/>
        </p:nvSpPr>
        <p:spPr>
          <a:xfrm>
            <a:off x="5770634" y="1898052"/>
            <a:ext cx="3879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*planned to move downstream below fragment generation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2E58FF-6012-9741-9011-1CE8A9024EDA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 flipV="1">
            <a:off x="6690833" y="4130369"/>
            <a:ext cx="2133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3624C182-8CF6-A14E-9516-33F1AF866548}"/>
              </a:ext>
            </a:extLst>
          </p:cNvPr>
          <p:cNvSpPr/>
          <p:nvPr/>
        </p:nvSpPr>
        <p:spPr>
          <a:xfrm>
            <a:off x="3677791" y="1315764"/>
            <a:ext cx="7316633" cy="350728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Processed sample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BF8A870D-E4ED-8747-9D01-B8C9EF8D9305}"/>
              </a:ext>
            </a:extLst>
          </p:cNvPr>
          <p:cNvSpPr/>
          <p:nvPr/>
        </p:nvSpPr>
        <p:spPr>
          <a:xfrm>
            <a:off x="4900535" y="4946360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BigWig</a:t>
            </a:r>
            <a:r>
              <a:rPr lang="en-US" sz="1200" dirty="0"/>
              <a:t> files from 5’ 1bp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BBF09D12-5FE0-C64C-B528-23B6FE23761B}"/>
              </a:ext>
            </a:extLst>
          </p:cNvPr>
          <p:cNvCxnSpPr>
            <a:cxnSpLocks/>
            <a:stCxn id="12" idx="2"/>
            <a:endCxn id="77" idx="1"/>
          </p:cNvCxnSpPr>
          <p:nvPr/>
        </p:nvCxnSpPr>
        <p:spPr>
          <a:xfrm rot="16200000" flipH="1">
            <a:off x="3602061" y="3830516"/>
            <a:ext cx="2358866" cy="2380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77B71131-436D-B74E-B90E-E1ACA750E794}"/>
              </a:ext>
            </a:extLst>
          </p:cNvPr>
          <p:cNvCxnSpPr>
            <a:cxnSpLocks/>
            <a:stCxn id="12" idx="2"/>
            <a:endCxn id="40" idx="1"/>
          </p:cNvCxnSpPr>
          <p:nvPr/>
        </p:nvCxnSpPr>
        <p:spPr>
          <a:xfrm rot="16200000" flipH="1">
            <a:off x="4595772" y="2836806"/>
            <a:ext cx="371448" cy="2380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18EEE553-B81B-5B4C-87FA-B2F3F90D9852}"/>
              </a:ext>
            </a:extLst>
          </p:cNvPr>
          <p:cNvSpPr/>
          <p:nvPr/>
        </p:nvSpPr>
        <p:spPr>
          <a:xfrm>
            <a:off x="8895396" y="3947739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Motif search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AB91A14-AD05-BE47-BB61-4CAC296AC671}"/>
              </a:ext>
            </a:extLst>
          </p:cNvPr>
          <p:cNvCxnSpPr>
            <a:cxnSpLocks/>
            <a:stCxn id="45" idx="3"/>
            <a:endCxn id="96" idx="1"/>
          </p:cNvCxnSpPr>
          <p:nvPr/>
        </p:nvCxnSpPr>
        <p:spPr>
          <a:xfrm>
            <a:off x="8694525" y="4130369"/>
            <a:ext cx="200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854C52C9-B94F-EC4A-B031-12E4A82CF728}"/>
              </a:ext>
            </a:extLst>
          </p:cNvPr>
          <p:cNvSpPr/>
          <p:nvPr/>
        </p:nvSpPr>
        <p:spPr>
          <a:xfrm>
            <a:off x="6904230" y="4452001"/>
            <a:ext cx="1790295" cy="36525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Peak visualization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21896C8-6D35-124A-B772-D82E1760801D}"/>
              </a:ext>
            </a:extLst>
          </p:cNvPr>
          <p:cNvCxnSpPr>
            <a:cxnSpLocks/>
            <a:stCxn id="46" idx="3"/>
            <a:endCxn id="101" idx="1"/>
          </p:cNvCxnSpPr>
          <p:nvPr/>
        </p:nvCxnSpPr>
        <p:spPr>
          <a:xfrm>
            <a:off x="6690832" y="4625631"/>
            <a:ext cx="213398" cy="9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E061059A-9C59-E543-B0E7-6329E292E1DE}"/>
              </a:ext>
            </a:extLst>
          </p:cNvPr>
          <p:cNvSpPr/>
          <p:nvPr/>
        </p:nvSpPr>
        <p:spPr>
          <a:xfrm>
            <a:off x="8895395" y="4947525"/>
            <a:ext cx="1790295" cy="365259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Footprint analysis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78FD154-0F81-F74B-8C6D-2D46E1DB1B08}"/>
              </a:ext>
            </a:extLst>
          </p:cNvPr>
          <p:cNvCxnSpPr>
            <a:cxnSpLocks/>
            <a:stCxn id="77" idx="3"/>
            <a:endCxn id="105" idx="1"/>
          </p:cNvCxnSpPr>
          <p:nvPr/>
        </p:nvCxnSpPr>
        <p:spPr>
          <a:xfrm>
            <a:off x="6690830" y="5128990"/>
            <a:ext cx="2204565" cy="1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A123CDE-843E-C54A-85B5-9CB7E7CE8AB2}"/>
              </a:ext>
            </a:extLst>
          </p:cNvPr>
          <p:cNvCxnSpPr>
            <a:cxnSpLocks/>
            <a:stCxn id="96" idx="2"/>
            <a:endCxn id="105" idx="0"/>
          </p:cNvCxnSpPr>
          <p:nvPr/>
        </p:nvCxnSpPr>
        <p:spPr>
          <a:xfrm flipH="1">
            <a:off x="9790543" y="4312998"/>
            <a:ext cx="1" cy="63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AA268D84-67B6-AA4C-B829-D087552C512E}"/>
              </a:ext>
            </a:extLst>
          </p:cNvPr>
          <p:cNvSpPr txBox="1"/>
          <p:nvPr/>
        </p:nvSpPr>
        <p:spPr>
          <a:xfrm>
            <a:off x="3866067" y="236585"/>
            <a:ext cx="49579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Bunch of bash and R scripts</a:t>
            </a:r>
          </a:p>
          <a:p>
            <a:pPr marL="285750" indent="-285750">
              <a:buFontTx/>
              <a:buChar char="-"/>
            </a:pPr>
            <a:r>
              <a:rPr lang="en-US" dirty="0"/>
              <a:t>Snakemake-based automatic parallel processing</a:t>
            </a:r>
          </a:p>
        </p:txBody>
      </p:sp>
    </p:spTree>
    <p:extLst>
      <p:ext uri="{BB962C8B-B14F-4D97-AF65-F5344CB8AC3E}">
        <p14:creationId xmlns:p14="http://schemas.microsoft.com/office/powerpoint/2010/main" val="1396112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439</Words>
  <Application>Microsoft Macintosh PowerPoint</Application>
  <PresentationFormat>Widescreen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Cutlery: Comprehensive Analysis Pipeline for CUT&amp;RUN Data</vt:lpstr>
      <vt:lpstr>Goal:</vt:lpstr>
      <vt:lpstr>Technical Challenges Ahead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Lim, Hee Woong</dc:creator>
  <cp:lastModifiedBy>Lim, Hee Woong</cp:lastModifiedBy>
  <cp:revision>69</cp:revision>
  <dcterms:created xsi:type="dcterms:W3CDTF">2020-06-12T17:02:32Z</dcterms:created>
  <dcterms:modified xsi:type="dcterms:W3CDTF">2020-08-06T16:22:04Z</dcterms:modified>
</cp:coreProperties>
</file>